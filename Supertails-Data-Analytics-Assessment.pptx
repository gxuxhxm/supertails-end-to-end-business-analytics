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bin" panose="020B0604020202020204" charset="0"/>
      <p:regular r:id="rId13"/>
    </p:embeddedFont>
    <p:embeddedFont>
      <p:font typeface="Unbounde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16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Supertails Data Analytics Assessment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967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Comprehensive analysis of Supertails' e-commerce ecosystem, leveraging data to drive operational efficiency and customer insights.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850" dirty="0">
              <a:solidFill>
                <a:srgbClr val="CAD6DE"/>
              </a:solidFill>
              <a:latin typeface="Cabin" pitchFamily="34" charset="0"/>
            </a:endParaRPr>
          </a:p>
          <a:p>
            <a:pPr marL="0" indent="0" algn="l">
              <a:lnSpc>
                <a:spcPts val="3000"/>
              </a:lnSpc>
              <a:buNone/>
            </a:pPr>
            <a:endParaRPr lang="en-US" sz="1850" dirty="0">
              <a:solidFill>
                <a:srgbClr val="CAD6DE"/>
              </a:solidFill>
              <a:latin typeface="Cabin" pitchFamily="34" charset="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</a:rPr>
              <a:t>By : Goutham S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61743"/>
            <a:ext cx="850499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 &amp;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44510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assessment analyzes Supertails' end-to-end e-commerce, communication, supply chain, and customer support ecosystem using five datasets.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779758"/>
            <a:ext cx="4158734" cy="2888099"/>
          </a:xfrm>
          <a:prstGeom prst="roundRect">
            <a:avLst>
              <a:gd name="adj" fmla="val 5066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244" y="3779758"/>
            <a:ext cx="121920" cy="2888099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</p:sp>
      <p:sp>
        <p:nvSpPr>
          <p:cNvPr id="6" name="Text 4"/>
          <p:cNvSpPr/>
          <p:nvPr/>
        </p:nvSpPr>
        <p:spPr>
          <a:xfrm>
            <a:off x="1198959" y="4049554"/>
            <a:ext cx="3527703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Evaluate Operational Efficiency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98959" y="5248989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Assess performance across e-commerce, supply chain, and customer support.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3779758"/>
            <a:ext cx="4158734" cy="2888099"/>
          </a:xfrm>
          <a:prstGeom prst="roundRect">
            <a:avLst>
              <a:gd name="adj" fmla="val 5066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05293" y="3779758"/>
            <a:ext cx="121920" cy="2888099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</p:sp>
      <p:sp>
        <p:nvSpPr>
          <p:cNvPr id="10" name="Text 8"/>
          <p:cNvSpPr/>
          <p:nvPr/>
        </p:nvSpPr>
        <p:spPr>
          <a:xfrm>
            <a:off x="5597009" y="4049554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Understand Customer Behavior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97009" y="4897041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 communication effectiveness and support outcomes.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3779758"/>
            <a:ext cx="4158853" cy="2888099"/>
          </a:xfrm>
          <a:prstGeom prst="roundRect">
            <a:avLst>
              <a:gd name="adj" fmla="val 5066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3343" y="3779758"/>
            <a:ext cx="121920" cy="2888099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</p:sp>
      <p:sp>
        <p:nvSpPr>
          <p:cNvPr id="14" name="Text 12"/>
          <p:cNvSpPr/>
          <p:nvPr/>
        </p:nvSpPr>
        <p:spPr>
          <a:xfrm>
            <a:off x="9995059" y="4049554"/>
            <a:ext cx="35278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Data-Driven Approach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95059" y="4897041"/>
            <a:ext cx="35278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Utilize SQL, Python analytics, segmentation, and predictive modeling.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95791E-DB32-D41F-B4DB-A0BA58D8E8BD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05733"/>
            <a:ext cx="100007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Preparation &amp; Validation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08039"/>
            <a:ext cx="30429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37724" y="3029188"/>
            <a:ext cx="4154686" cy="3825478"/>
          </a:xfrm>
          <a:prstGeom prst="roundRect">
            <a:avLst>
              <a:gd name="adj" fmla="val 93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344" y="3036808"/>
            <a:ext cx="4139446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84778" y="3188018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Orders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3158252" y="3188018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~10,000 Rows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45344" y="3722251"/>
            <a:ext cx="4139446" cy="10684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84778" y="3873460"/>
            <a:ext cx="15872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Communication Logs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3158252" y="3873460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~40,000 Rows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45344" y="4790718"/>
            <a:ext cx="4139446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84778" y="4690751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Supply Chain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158252" y="4690751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~10,000 Rows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845344" y="5224984"/>
            <a:ext cx="4139446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84778" y="5376194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 Tickets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3158252" y="5376194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~5,000 Rows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45344" y="5910427"/>
            <a:ext cx="4139446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84778" y="6061637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Vet Calls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3158252" y="6061637"/>
            <a:ext cx="15872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~5,000 Rows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5583912" y="2408039"/>
            <a:ext cx="4904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Cleaning &amp; Validation Metrics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83912" y="2999303"/>
            <a:ext cx="8216265" cy="191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Missing values: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0 in primary identifiers.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Date consistency: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100% of actual_delivery_date ≥ order_date; 100% of resolved_at ≥ created_at.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Supply chain order: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~94% followed correct scan order.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Foreign key integrity: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100% of order_id references matched.</a:t>
            </a:r>
            <a:endParaRPr lang="en-US" sz="18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08DE2B-BC77-6F51-1C3E-47C71CF2BCEC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83055"/>
            <a:ext cx="1137368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Exploratory Data Analysis: Orders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765822"/>
            <a:ext cx="1060013" cy="1060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37053" y="2765822"/>
            <a:ext cx="1714976" cy="140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Order Value Distribution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37053" y="4317206"/>
            <a:ext cx="171497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Broad range with no heavy skew; mean order value consistent across bins.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233" y="2765822"/>
            <a:ext cx="1060013" cy="106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50562" y="2765822"/>
            <a:ext cx="1714976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Category-wise Revenue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50562" y="3965258"/>
            <a:ext cx="1714976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Grooming highest contributor, Food lowest. Revenue diversified across categories.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43" y="2765822"/>
            <a:ext cx="1060013" cy="106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64072" y="2765822"/>
            <a:ext cx="1714976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City-level Performance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764072" y="3965258"/>
            <a:ext cx="1714976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 cities generated ₹2.5M+ revenue; balanced distribution, no single city dominated.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252" y="2765822"/>
            <a:ext cx="1060013" cy="106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7581" y="2765822"/>
            <a:ext cx="1715095" cy="140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Payment Mode Breakdown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2077581" y="4317206"/>
            <a:ext cx="171509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Digital payments (&gt;75% total revenue) reduce operational friction.</a:t>
            </a:r>
            <a:endParaRPr lang="en-US" sz="1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040F3E-EDBD-4D3F-AA98-A704D74D16A4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806" y="607219"/>
            <a:ext cx="10157222" cy="61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Delivery &amp; Communication Insights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30806" y="1676757"/>
            <a:ext cx="3694748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Delivery Turnaround Time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6" y="2188607"/>
            <a:ext cx="8381405" cy="44393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3247" y="5361410"/>
            <a:ext cx="1950280" cy="24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Day 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43846" y="5678733"/>
            <a:ext cx="2219681" cy="38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Initial deliveries begin, common occurrence.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02741" y="2749571"/>
            <a:ext cx="1950280" cy="24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Day 3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33340" y="3066895"/>
            <a:ext cx="2219681" cy="38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Steady volume across mid-window.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06900" y="2749571"/>
            <a:ext cx="1950280" cy="24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Day 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06900" y="3066895"/>
            <a:ext cx="2219681" cy="38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Consistent delivery frequency persists.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89775" y="5361554"/>
            <a:ext cx="1950280" cy="24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Day 7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89775" y="5678878"/>
            <a:ext cx="2219681" cy="38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deliveries, minimal long-tail delays.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0806" y="6832878"/>
            <a:ext cx="8381405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Delivery TAT ranged from </a:t>
            </a: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 to 7 days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with a nearly uniform distribution and minimal long-tail delays.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29180" y="2368748"/>
            <a:ext cx="4277916" cy="61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Communication Channel Effectiveness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9629180" y="3187541"/>
            <a:ext cx="4277916" cy="2748320"/>
          </a:xfrm>
          <a:prstGeom prst="roundRect">
            <a:avLst>
              <a:gd name="adj" fmla="val 114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36800" y="3195161"/>
            <a:ext cx="4262199" cy="54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846112" y="3312081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Channel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70456" y="3312081"/>
            <a:ext cx="99548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Read Rate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690991" y="3312081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Click Rate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636800" y="3741777"/>
            <a:ext cx="4262199" cy="5466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846112" y="3858697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WhatsApp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270456" y="3858697"/>
            <a:ext cx="99548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~0.37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690991" y="3858697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~0.21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636800" y="4288393"/>
            <a:ext cx="4262199" cy="54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846112" y="4405313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Email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270456" y="4405313"/>
            <a:ext cx="99548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~0.35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690991" y="4405313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~0.19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36800" y="4835009"/>
            <a:ext cx="4262199" cy="5466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9846112" y="4951928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SMS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270456" y="4951928"/>
            <a:ext cx="99548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~0.34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690991" y="4951928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~0.18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636800" y="5381625"/>
            <a:ext cx="4262199" cy="54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9846112" y="5498544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Call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270456" y="5498544"/>
            <a:ext cx="99548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~0.38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690991" y="5498544"/>
            <a:ext cx="99929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~0.22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629180" y="6140768"/>
            <a:ext cx="4277916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Engagement rates were tightly clustered, with Calls and WhatsApp marginally higher.</a:t>
            </a:r>
            <a:endParaRPr lang="en-US" sz="16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1FB627-3987-C9BA-F3AF-BF9C89555ECA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69513"/>
            <a:ext cx="741187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Support Ticket Trends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21" y="2052280"/>
            <a:ext cx="12395240" cy="42724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58438" y="2572409"/>
            <a:ext cx="3668996" cy="342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Weekly Volume 75–120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658438" y="3465672"/>
            <a:ext cx="3187043" cy="34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Sustained Trend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658438" y="4374318"/>
            <a:ext cx="3956628" cy="342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Stable Support Demand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7724" y="659391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Weekly ticket volume ranged between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~75 and ~120 tickets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No sustained upward or downward trend, indicating stable customer support demand throughout the year.</a:t>
            </a:r>
            <a:endParaRPr lang="en-US" sz="18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30F8CF-C75F-9350-5E89-2C2A77F137EB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06529"/>
            <a:ext cx="100801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RFM Analysis &amp; Segmentation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088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RFM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700099"/>
            <a:ext cx="6185535" cy="114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Recency: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Days since last purchase.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Frequency: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Total orders per customer.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Monetary: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Total spend per customer.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06451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Quantile-based scoring used to generate R, F, and M scores.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2108835"/>
            <a:ext cx="358509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 Distribution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14761" y="2729984"/>
            <a:ext cx="6185535" cy="3442454"/>
          </a:xfrm>
          <a:prstGeom prst="roundRect">
            <a:avLst>
              <a:gd name="adj" fmla="val 104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2381" y="2737604"/>
            <a:ext cx="6170295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861697" y="2888813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Segment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950654" y="2888813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622381" y="3423047"/>
            <a:ext cx="6170295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61697" y="3574256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Bronze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0950654" y="3574256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3,237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7622381" y="3941044"/>
            <a:ext cx="6170295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61697" y="4092253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New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0950654" y="4092253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1,741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622381" y="4626487"/>
            <a:ext cx="6170295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861697" y="4777696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Silver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0950654" y="4777696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709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7622381" y="5311929"/>
            <a:ext cx="6170295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861697" y="5463139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Gold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0950654" y="5463139"/>
            <a:ext cx="2602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315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614761" y="6274193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~65% of customers are Bronze or New; Gold customers represent ~6%.</a:t>
            </a:r>
            <a:endParaRPr lang="en-US" sz="18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0938BD-E797-5862-EC33-E1C011358CD2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04525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Contribution by Segment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812256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Bronze customers drive highest total revenue due to population size. Gold customers, though fewer, have the highest average revenue per customer.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3847505"/>
            <a:ext cx="3614618" cy="1740218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6563439" y="40868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Bronze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63439" y="458235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Highest total revenue due to large population.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8058" y="3847505"/>
            <a:ext cx="3614618" cy="1740218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10417373" y="40868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Silver &amp; New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17373" y="458235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Moderate revenue contribution.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324124" y="5827038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6563439" y="606635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Gold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63439" y="6561892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Lower total revenue but highest average revenue per customer.</a:t>
            </a:r>
            <a:endParaRPr lang="en-US" sz="18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9E6CF6-AB0A-260A-BAA6-5971204C0FC3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52" y="716161"/>
            <a:ext cx="13033296" cy="1342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Predictive Analytics: Support Ticket Prediction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8552" y="2601873"/>
            <a:ext cx="2684502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98552" y="3154799"/>
            <a:ext cx="6238280" cy="142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Model: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Logistic Regression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Target: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Customer raises a support ticket (Yes/No)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Features: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Average order value, repeat customer status, city, shipment mode, communication click &amp; reply rates.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601188" y="2601873"/>
            <a:ext cx="4487108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Performance Metrics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01188" y="3182064"/>
            <a:ext cx="6238280" cy="3178135"/>
          </a:xfrm>
          <a:prstGeom prst="roundRect">
            <a:avLst>
              <a:gd name="adj" fmla="val 107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8808" y="3189684"/>
            <a:ext cx="6223040" cy="6325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837051" y="3327797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Metric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952321" y="3327797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Value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608808" y="3822263"/>
            <a:ext cx="6223040" cy="6325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837051" y="3960376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Accuracy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952321" y="3960376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~0.68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608808" y="4454843"/>
            <a:ext cx="6223040" cy="6325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837051" y="4441591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Recall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952321" y="4441591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~0.61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608808" y="4936058"/>
            <a:ext cx="6223040" cy="6325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837051" y="5074170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F1 Score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952321" y="5074170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~0.64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608808" y="5568637"/>
            <a:ext cx="6223040" cy="6325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837051" y="5706749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ROC-AUC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952321" y="5706749"/>
            <a:ext cx="265140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~0.71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601188" y="6453509"/>
            <a:ext cx="6238280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 shows reasonable discrimination capability, enabling proactive support.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D7F5B5-179A-BAC6-1539-D3853689EEA8}"/>
              </a:ext>
            </a:extLst>
          </p:cNvPr>
          <p:cNvSpPr/>
          <p:nvPr/>
        </p:nvSpPr>
        <p:spPr>
          <a:xfrm>
            <a:off x="12871938" y="7760677"/>
            <a:ext cx="1664677" cy="339969"/>
          </a:xfrm>
          <a:prstGeom prst="rect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8793" y="866537"/>
            <a:ext cx="7506414" cy="137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Takeaways &amp; Conclusion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88313" y="2555319"/>
            <a:ext cx="60960" cy="912257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" name="Text 2"/>
          <p:cNvSpPr/>
          <p:nvPr/>
        </p:nvSpPr>
        <p:spPr>
          <a:xfrm>
            <a:off x="1113711" y="2585799"/>
            <a:ext cx="497038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Diversified Revenue &amp; Demand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13711" y="3067050"/>
            <a:ext cx="7211497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Geographically and category-wise, reducing dependency risks.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8313" y="3863935"/>
            <a:ext cx="60960" cy="912257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5"/>
          <p:cNvSpPr/>
          <p:nvPr/>
        </p:nvSpPr>
        <p:spPr>
          <a:xfrm>
            <a:off x="1113711" y="3894415"/>
            <a:ext cx="299680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Stable Operations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113711" y="4375666"/>
            <a:ext cx="7211497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Predictable delivery timelines and consistent support demand.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88313" y="5172551"/>
            <a:ext cx="60960" cy="912257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1113711" y="5203031"/>
            <a:ext cx="406741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Segmentation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13711" y="5684282"/>
            <a:ext cx="7211497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Identifies retention opportunities and high-impact Gold customers.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88313" y="6481167"/>
            <a:ext cx="60960" cy="912257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1"/>
          <p:cNvSpPr/>
          <p:nvPr/>
        </p:nvSpPr>
        <p:spPr>
          <a:xfrm>
            <a:off x="1113711" y="6511647"/>
            <a:ext cx="3013591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Proactive Support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113711" y="6992898"/>
            <a:ext cx="7211497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Predictive modeling optimizes customer support and workload planning.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646</Words>
  <Application>Microsoft Office PowerPoint</Application>
  <PresentationFormat>Custom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Cabin</vt:lpstr>
      <vt:lpstr>Unbounded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Goutham S.K</cp:lastModifiedBy>
  <cp:revision>2</cp:revision>
  <dcterms:created xsi:type="dcterms:W3CDTF">2026-01-31T17:22:21Z</dcterms:created>
  <dcterms:modified xsi:type="dcterms:W3CDTF">2026-01-31T17:24:06Z</dcterms:modified>
</cp:coreProperties>
</file>